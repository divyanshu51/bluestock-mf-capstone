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2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65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GB" sz="1800" b="0" i="0" u="none" strike="noStrike">
                <a:solidFill>
                  <a:srgbClr val="000000"/>
                </a:solidFill>
                <a:latin typeface="Arial"/>
              </a:rPr>
              <a:t>Avg SIP Amount by Age Group (Rs.)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SIP (Rs.)</c:v>
                </c:pt>
              </c:strCache>
            </c:strRef>
          </c:tx>
          <c:spPr>
            <a:solidFill>
              <a:srgbClr val="1E88E5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1E88E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E4A2-4CB4-9870-C77FCB2682D1}"/>
              </c:ext>
            </c:extLst>
          </c:dPt>
          <c:dPt>
            <c:idx val="1"/>
            <c:invertIfNegative val="0"/>
            <c:bubble3D val="0"/>
            <c:spPr>
              <a:solidFill>
                <a:srgbClr val="1565C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E4A2-4CB4-9870-C77FCB2682D1}"/>
              </c:ext>
            </c:extLst>
          </c:dPt>
          <c:dPt>
            <c:idx val="2"/>
            <c:invertIfNegative val="0"/>
            <c:bubble3D val="0"/>
            <c:spPr>
              <a:solidFill>
                <a:srgbClr val="0D47A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E4A2-4CB4-9870-C77FCB2682D1}"/>
              </c:ext>
            </c:extLst>
          </c:dPt>
          <c:dPt>
            <c:idx val="3"/>
            <c:invertIfNegative val="0"/>
            <c:bubble3D val="0"/>
            <c:spPr>
              <a:solidFill>
                <a:srgbClr val="00796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E4A2-4CB4-9870-C77FCB2682D1}"/>
              </c:ext>
            </c:extLst>
          </c:dPt>
          <c:dPt>
            <c:idx val="4"/>
            <c:invertIfNegative val="0"/>
            <c:bubble3D val="0"/>
            <c:spPr>
              <a:solidFill>
                <a:srgbClr val="2E7D3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E4A2-4CB4-9870-C77FCB2682D1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18-25</c:v>
                </c:pt>
                <c:pt idx="1">
                  <c:v>26-35</c:v>
                </c:pt>
                <c:pt idx="2">
                  <c:v>36-45</c:v>
                </c:pt>
                <c:pt idx="3">
                  <c:v>46-55</c:v>
                </c:pt>
                <c:pt idx="4">
                  <c:v>56+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8240</c:v>
                </c:pt>
                <c:pt idx="1">
                  <c:v>10510</c:v>
                </c:pt>
                <c:pt idx="2">
                  <c:v>13890</c:v>
                </c:pt>
                <c:pt idx="3">
                  <c:v>12340</c:v>
                </c:pt>
                <c:pt idx="4">
                  <c:v>9870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E4A2-4CB4-9870-C77FCB2682D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6E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6E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GB" sz="1800" b="0" i="0" u="none" strike="noStrike">
                <a:solidFill>
                  <a:srgbClr val="000000"/>
                </a:solidFill>
                <a:latin typeface="Arial"/>
              </a:rPr>
              <a:t>Daily VaR 95% — Selected Funds (%)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VaR 95%</c:v>
                </c:pt>
              </c:strCache>
            </c:strRef>
          </c:tx>
          <c:spPr>
            <a:solidFill>
              <a:srgbClr val="C62828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0221-4508-85ED-5301C4646D9C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0221-4508-85ED-5301C4646D9C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0221-4508-85ED-5301C4646D9C}"/>
              </c:ext>
            </c:extLst>
          </c:dPt>
          <c:dPt>
            <c:idx val="3"/>
            <c:invertIfNegative val="0"/>
            <c:bubble3D val="0"/>
            <c:spPr>
              <a:solidFill>
                <a:srgbClr val="E651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0221-4508-85ED-5301C4646D9C}"/>
              </c:ext>
            </c:extLst>
          </c:dPt>
          <c:dPt>
            <c:idx val="4"/>
            <c:invertIfNegative val="0"/>
            <c:bubble3D val="0"/>
            <c:spPr>
              <a:solidFill>
                <a:srgbClr val="1565C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0221-4508-85ED-5301C4646D9C}"/>
              </c:ext>
            </c:extLst>
          </c:dPt>
          <c:dPt>
            <c:idx val="5"/>
            <c:invertIfNegative val="0"/>
            <c:bubble3D val="0"/>
            <c:spPr>
              <a:solidFill>
                <a:srgbClr val="1565C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0221-4508-85ED-5301C4646D9C}"/>
              </c:ext>
            </c:extLst>
          </c:dPt>
          <c:dPt>
            <c:idx val="6"/>
            <c:invertIfNegative val="0"/>
            <c:bubble3D val="0"/>
            <c:spPr>
              <a:solidFill>
                <a:srgbClr val="00796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0221-4508-85ED-5301C4646D9C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ABSL Small Cap</c:v>
                </c:pt>
                <c:pt idx="1">
                  <c:v>SBI Small Cap</c:v>
                </c:pt>
                <c:pt idx="2">
                  <c:v>Nippon Small Cap</c:v>
                </c:pt>
                <c:pt idx="3">
                  <c:v>Axis Small Cap</c:v>
                </c:pt>
                <c:pt idx="4">
                  <c:v>Mirae Large Cap</c:v>
                </c:pt>
                <c:pt idx="5">
                  <c:v>HDFC Top 100</c:v>
                </c:pt>
                <c:pt idx="6">
                  <c:v>ICICI Liquid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-2.39</c:v>
                </c:pt>
                <c:pt idx="1">
                  <c:v>-2.21</c:v>
                </c:pt>
                <c:pt idx="2">
                  <c:v>-2.15</c:v>
                </c:pt>
                <c:pt idx="3">
                  <c:v>-1.98</c:v>
                </c:pt>
                <c:pt idx="4">
                  <c:v>-1.1200000000000001</c:v>
                </c:pt>
                <c:pt idx="5">
                  <c:v>-1.05</c:v>
                </c:pt>
                <c:pt idx="6">
                  <c:v>-0.02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0221-4508-85ED-5301C4646D9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6E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6E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21570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47A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FINTECH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26187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Mutual Fund Analytics Platform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1719072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Project — End-to-End Data Engineering, ETL &amp; Interactive Dashboard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1828800" cy="1005840"/>
          </a:xfrm>
          <a:prstGeom prst="roundRect">
            <a:avLst>
              <a:gd name="adj" fmla="val 7273"/>
            </a:avLst>
          </a:prstGeom>
          <a:solidFill>
            <a:srgbClr val="00796B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2423160"/>
            <a:ext cx="173736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94360" y="2915107"/>
            <a:ext cx="173736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Schemes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606040" y="2331720"/>
            <a:ext cx="1828800" cy="1005840"/>
          </a:xfrm>
          <a:prstGeom prst="roundRect">
            <a:avLst>
              <a:gd name="adj" fmla="val 7273"/>
            </a:avLst>
          </a:prstGeom>
          <a:solidFill>
            <a:srgbClr val="00796B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651760" y="2423160"/>
            <a:ext cx="173736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64K+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2651760" y="2915107"/>
            <a:ext cx="173736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 Records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663440" y="2331720"/>
            <a:ext cx="1828800" cy="1005840"/>
          </a:xfrm>
          <a:prstGeom prst="roundRect">
            <a:avLst>
              <a:gd name="adj" fmla="val 7273"/>
            </a:avLst>
          </a:prstGeom>
          <a:solidFill>
            <a:srgbClr val="00796B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09160" y="2423160"/>
            <a:ext cx="173736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32,778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709160" y="2915107"/>
            <a:ext cx="173736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720840" y="2331720"/>
            <a:ext cx="1828800" cy="1005840"/>
          </a:xfrm>
          <a:prstGeom prst="roundRect">
            <a:avLst>
              <a:gd name="adj" fmla="val 7273"/>
            </a:avLst>
          </a:prstGeom>
          <a:solidFill>
            <a:srgbClr val="00796B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766560" y="2423160"/>
            <a:ext cx="173736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766560" y="2915107"/>
            <a:ext cx="173736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Houses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48640" y="44348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 Divyanshu Rai  |  Duration: 7 Days, June 2026  |  Data: AMFI India, mfapi.in, NSE/BSE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Objectives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65836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this platform need to exist?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27432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515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Gaps We're Solving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1389888"/>
            <a:ext cx="42062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fragmentation — NAV, AUM, SIP data in different formats across AMFI, NSE, BSE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unified risk-adjusted comparison across 1,900+ schemes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investors can't tell if their fund beats the benchmark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AMCs lack visibility into demographic SIP behaviour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reports are static PDFs — no self-service analytics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1005840"/>
            <a:ext cx="4114800" cy="3657600"/>
          </a:xfrm>
          <a:prstGeom prst="roundRect">
            <a:avLst>
              <a:gd name="adj" fmla="val 2500"/>
            </a:avLst>
          </a:prstGeom>
          <a:solidFill>
            <a:srgbClr val="E3F2FD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92040" y="10972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Project Objectives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892040" y="1463040"/>
            <a:ext cx="3840480" cy="306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O1 — Automated ETL pipeline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O2 — 7-table star schema SQLite DB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O3 — EDA with 15+ charts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O4 — Sharpe, Alpha, Beta, VaR metrics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O5 — 4-page Power BI dashboard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O6 — Investor demographic analysis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O7 — Benchmark comparison (Nifty 50/100)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O8 — Professional report &amp; presentation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solidFill>
            <a:srgbClr val="ECEFF1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Fintech | Mutual Fund Analytics Capstone | June 2026  •  2/12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 &amp; Dataset Overview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65836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datasets | 87,000+ rows | All public sources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27432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51560"/>
          <a:ext cx="8412480" cy="3383280"/>
        </p:xfrm>
        <a:graphic>
          <a:graphicData uri="http://schemas.openxmlformats.org/drawingml/2006/table">
            <a:tbl>
              <a:tblPr/>
              <a:tblGrid>
                <a:gridCol w="365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89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Size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fund_master.csv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 rows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 scheme master with expense ratio, risk grade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nav_history.csv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46,000 rows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Daily NAV Jan 2022 – May 2026 (mfapi.in)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aum_by_fund_house.csv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 rows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Quarterly AUM for 10 fund houses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monthly_sip_inflows.csv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 rows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SIP inflow, accounts, AUM — AMFI Monthly Notes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category_inflows.csv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144 rows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 inflows by category FY 2024-25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scheme_performance.csv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 rows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Pre-computed Sharpe, Alpha, Beta, Drawdown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investor_transactions.csv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32,778 rows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SIP/Lumpsum/Redemption for 5,000 investors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portfolio_holdings.csv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322 rows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 equity holdings, sector weights Dec 2025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benchmark_indices.csv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8,050 rows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Nifty 50, Nifty 100, BSE SmallCap, CRISIL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solidFill>
            <a:srgbClr val="ECEFF1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Fintech | Mutual Fund Analytics Capstone | June 2026  •  3/12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Pipeline &amp; System Architecture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65836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5-layer data engineering design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27432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97280"/>
            <a:ext cx="1463040" cy="566928"/>
          </a:xfrm>
          <a:prstGeom prst="roundRect">
            <a:avLst>
              <a:gd name="adj" fmla="val 9677"/>
            </a:avLst>
          </a:prstGeom>
          <a:solidFill>
            <a:srgbClr val="00796B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097280"/>
            <a:ext cx="1463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920240" y="1627632"/>
            <a:ext cx="6766560" cy="27432"/>
          </a:xfrm>
          <a:prstGeom prst="rect">
            <a:avLst/>
          </a:prstGeom>
          <a:solidFill>
            <a:srgbClr val="00796B"/>
          </a:solidFill>
          <a:ln/>
        </p:spPr>
      </p:sp>
      <p:sp>
        <p:nvSpPr>
          <p:cNvPr id="8" name="Text 6"/>
          <p:cNvSpPr/>
          <p:nvPr/>
        </p:nvSpPr>
        <p:spPr>
          <a:xfrm>
            <a:off x="2057400" y="1097280"/>
            <a:ext cx="6629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AMFI Daily NAV, mfapi.in REST API, NSE Bhavcopy, pre-packaged CSVs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1810512"/>
            <a:ext cx="1463040" cy="566928"/>
          </a:xfrm>
          <a:prstGeom prst="roundRect">
            <a:avLst>
              <a:gd name="adj" fmla="val 9677"/>
            </a:avLst>
          </a:prstGeom>
          <a:solidFill>
            <a:srgbClr val="1E88E5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5760" y="1810512"/>
            <a:ext cx="1463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920240" y="2340864"/>
            <a:ext cx="6766560" cy="27432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12" name="Text 10"/>
          <p:cNvSpPr/>
          <p:nvPr/>
        </p:nvSpPr>
        <p:spPr>
          <a:xfrm>
            <a:off x="2057400" y="1810512"/>
            <a:ext cx="6629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Python/Pandas — parse dates, forward-fill holidays, validate, deduplicate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2523744"/>
            <a:ext cx="1463040" cy="566928"/>
          </a:xfrm>
          <a:prstGeom prst="roundRect">
            <a:avLst>
              <a:gd name="adj" fmla="val 9677"/>
            </a:avLst>
          </a:prstGeom>
          <a:solidFill>
            <a:srgbClr val="1565C0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5760" y="2523744"/>
            <a:ext cx="1463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920240" y="3054096"/>
            <a:ext cx="6766560" cy="27432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6" name="Text 14"/>
          <p:cNvSpPr/>
          <p:nvPr/>
        </p:nvSpPr>
        <p:spPr>
          <a:xfrm>
            <a:off x="2057400" y="2523744"/>
            <a:ext cx="6629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star schema — 7 tables, indexed on amfi_code + date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3236976"/>
            <a:ext cx="1463040" cy="566928"/>
          </a:xfrm>
          <a:prstGeom prst="roundRect">
            <a:avLst>
              <a:gd name="adj" fmla="val 9677"/>
            </a:avLst>
          </a:prstGeom>
          <a:solidFill>
            <a:srgbClr val="0D47A1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65760" y="3236976"/>
            <a:ext cx="1463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920240" y="3767328"/>
            <a:ext cx="6766560" cy="27432"/>
          </a:xfrm>
          <a:prstGeom prst="rect">
            <a:avLst/>
          </a:prstGeom>
          <a:solidFill>
            <a:srgbClr val="0D47A1"/>
          </a:solidFill>
          <a:ln/>
        </p:spPr>
      </p:sp>
      <p:sp>
        <p:nvSpPr>
          <p:cNvPr id="20" name="Text 18"/>
          <p:cNvSpPr/>
          <p:nvPr/>
        </p:nvSpPr>
        <p:spPr>
          <a:xfrm>
            <a:off x="2057400" y="3236976"/>
            <a:ext cx="6629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Jupyter — CAGR, Sharpe, Sortino, Alpha, Beta, VaR, CVaR, HHI, cohorts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3950208"/>
            <a:ext cx="1463040" cy="566928"/>
          </a:xfrm>
          <a:prstGeom prst="roundRect">
            <a:avLst>
              <a:gd name="adj" fmla="val 9677"/>
            </a:avLst>
          </a:prstGeom>
          <a:solidFill>
            <a:srgbClr val="2E7D32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5760" y="3950208"/>
            <a:ext cx="1463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920240" y="4480560"/>
            <a:ext cx="6766560" cy="27432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24" name="Text 22"/>
          <p:cNvSpPr/>
          <p:nvPr/>
        </p:nvSpPr>
        <p:spPr>
          <a:xfrm>
            <a:off x="2057400" y="3950208"/>
            <a:ext cx="6629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— 4 interactive pages, slicers, drill-through, KPI cards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solidFill>
            <a:srgbClr val="ECEFF1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Fintech | Mutual Fund Analytics Capstone | June 2026  •  4/12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Highlights — Industry &amp; AUM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65836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view of the Indian MF industry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27432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051560"/>
            <a:ext cx="1965960" cy="960120"/>
          </a:xfrm>
          <a:prstGeom prst="roundRect">
            <a:avLst>
              <a:gd name="adj" fmla="val 7619"/>
            </a:avLst>
          </a:prstGeom>
          <a:solidFill>
            <a:srgbClr val="0D47A1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143000"/>
            <a:ext cx="1874520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Rs. 62.74L Cr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65760" y="1608430"/>
            <a:ext cx="1874520" cy="364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AUM Dec 2025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468880" y="1051560"/>
            <a:ext cx="1965960" cy="960120"/>
          </a:xfrm>
          <a:prstGeom prst="roundRect">
            <a:avLst>
              <a:gd name="adj" fmla="val 7619"/>
            </a:avLst>
          </a:prstGeom>
          <a:solidFill>
            <a:srgbClr val="00796B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514600" y="1143000"/>
            <a:ext cx="1874520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Rs. 31,002 Cr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2514600" y="1608430"/>
            <a:ext cx="1874520" cy="364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SIP Inflow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617720" y="1051560"/>
            <a:ext cx="1965960" cy="960120"/>
          </a:xfrm>
          <a:prstGeom prst="roundRect">
            <a:avLst>
              <a:gd name="adj" fmla="val 7619"/>
            </a:avLst>
          </a:prstGeom>
          <a:solidFill>
            <a:srgbClr val="2E7D32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663440" y="1143000"/>
            <a:ext cx="1874520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26.12 Cr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663440" y="1608430"/>
            <a:ext cx="1874520" cy="364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Folios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766560" y="1051560"/>
            <a:ext cx="1965960" cy="960120"/>
          </a:xfrm>
          <a:prstGeom prst="roundRect">
            <a:avLst>
              <a:gd name="adj" fmla="val 7619"/>
            </a:avLst>
          </a:prstGeom>
          <a:solidFill>
            <a:srgbClr val="1E88E5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812280" y="1143000"/>
            <a:ext cx="1874520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9.35 Cr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812280" y="1608430"/>
            <a:ext cx="1874520" cy="364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SIP Accounts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65760" y="217627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65760" y="2487168"/>
            <a:ext cx="41148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AUM grew 2.1x from Rs.29.5L Cr (Jan 2022) to Rs.62.7L Cr (Dec 2025)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SBI MF leads with Rs.12.5L Cr, ICICI at Rs.10.74L Cr, HDFC at Rs.9.3L Cr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SIP inflows grew 169% — Rs.11,517 Cr (Jan 2022) to Rs.31,002 Cr (Dec 2025)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folios doubled: 13.26 Cr → 26.12 Cr in under 4 years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solidFill>
            <a:srgbClr val="ECEFF1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Fintech | Mutual Fund Analytics Capstone | June 2026  •  5/12</a:t>
            </a:r>
            <a:endParaRPr lang="en-US" sz="80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8E559D7B-C648-F0AC-37ED-779A02CF9C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2092148"/>
            <a:ext cx="4523509" cy="276148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Highlights — Investor Analytics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65836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is investing, how much, and from where?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27432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graphicFrame>
        <p:nvGraphicFramePr>
          <p:cNvPr id="6" name="Chart 1"/>
          <p:cNvGraphicFramePr/>
          <p:nvPr/>
        </p:nvGraphicFramePr>
        <p:xfrm>
          <a:off x="3611880" y="1024128"/>
          <a:ext cx="530352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3"/>
          <p:cNvSpPr/>
          <p:nvPr/>
        </p:nvSpPr>
        <p:spPr>
          <a:xfrm>
            <a:off x="320040" y="4041648"/>
            <a:ext cx="85039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SIP = 60.2% of transactions | Lumpsum = 24.7% | Redemption = 15.2%   |   Age 36-45 invests most on average — peak earning years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states: Maharashtra, Delhi, Gujarat | 92% investors KYC verified | T30 cities dominate SIP value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solidFill>
            <a:srgbClr val="ECEFF1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Fintech | Mutual Fund Analytics Capstone | June 2026  •  6/12</a:t>
            </a:r>
            <a:endParaRPr lang="en-US" sz="8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FFD1BAF-2A51-A903-FCD1-C756043F4D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" y="1161288"/>
            <a:ext cx="3383280" cy="26060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Performance Metrics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65836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CAGR, Sharpe, Sortino, Alpha, Beta for all 40 schemes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27432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5156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1353312"/>
            <a:ext cx="41148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CAGR = (NAV_end / NAV_start) ^ (1/n) - 1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 = (Rp - Rf) / Std(Rp) × √252 | Rf = 6.5%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Sortino = uses only downside std deviation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Alpha/Beta = OLS regression on Nifty 100 daily returns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Drawdown = min(NAV / running_max - 1)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3520440"/>
            <a:ext cx="1965960" cy="1005840"/>
          </a:xfrm>
          <a:prstGeom prst="roundRect">
            <a:avLst>
              <a:gd name="adj" fmla="val 7273"/>
            </a:avLst>
          </a:prstGeom>
          <a:solidFill>
            <a:srgbClr val="00796B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5760" y="3593592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7.68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65760" y="4087368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Sharpe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(ICICI Liquid)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514600" y="3520440"/>
            <a:ext cx="1965960" cy="1005840"/>
          </a:xfrm>
          <a:prstGeom prst="roundRect">
            <a:avLst>
              <a:gd name="adj" fmla="val 7273"/>
            </a:avLst>
          </a:prstGeom>
          <a:solidFill>
            <a:srgbClr val="0D47A1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514600" y="3593592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+30.3%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514600" y="4087368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Alpha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(SBI Small Cap)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663440" y="3520440"/>
            <a:ext cx="1965960" cy="1005840"/>
          </a:xfrm>
          <a:prstGeom prst="roundRect">
            <a:avLst>
              <a:gd name="adj" fmla="val 7273"/>
            </a:avLst>
          </a:prstGeom>
          <a:solidFill>
            <a:srgbClr val="C62828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663440" y="3593592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-2.39%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663440" y="4087368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 VaR 95%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(ABSL Small Cap)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812280" y="3520440"/>
            <a:ext cx="1965960" cy="1005840"/>
          </a:xfrm>
          <a:prstGeom prst="roundRect">
            <a:avLst>
              <a:gd name="adj" fmla="val 7273"/>
            </a:avLst>
          </a:prstGeom>
          <a:solidFill>
            <a:srgbClr val="2E7D32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812280" y="3593592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85.9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812280" y="4087368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Scorecard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(Mirae Large Cap)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709160" y="1024128"/>
            <a:ext cx="4206240" cy="2377440"/>
          </a:xfrm>
          <a:prstGeom prst="roundRect">
            <a:avLst>
              <a:gd name="adj" fmla="val 3077"/>
            </a:avLst>
          </a:prstGeom>
          <a:solidFill>
            <a:srgbClr val="E3F2FD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846320" y="109728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— Composite Scorecard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46320" y="1417320"/>
            <a:ext cx="39319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  Mirae Asset Large Cap — Regular   85.9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  HDFC Top 100 — Regular            81.2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#3  SBI Bluechip — Regular            79.8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#4  ICICI Pru Bluechip — Regular      77.4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#5  Axis Bluechip — Regular           74.1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solidFill>
            <a:srgbClr val="ECEFF1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Fintech | Mutual Fund Analytics Capstone | June 2026  •  7/12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Comparison &amp; Risk Metrics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65836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funds vs Nifty 50 &amp; Nifty 100 — 3 year window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27432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graphicFrame>
        <p:nvGraphicFramePr>
          <p:cNvPr id="5" name="Chart 0"/>
          <p:cNvGraphicFramePr/>
          <p:nvPr/>
        </p:nvGraphicFramePr>
        <p:xfrm>
          <a:off x="320040" y="1024128"/>
          <a:ext cx="484632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5349240" y="1024128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Tracking Error (vs Nifty 100)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349240" y="1353312"/>
            <a:ext cx="35661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top 5 equity funds show positive Alpha vs Nifty 100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SBI Small Cap: highest alpha at +30.3% annualised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 error ranges from 8% to 24% (equity funds)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 funds: near-zero tracking vs CRISIL Liquid index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349240" y="3063240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 Insight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349240" y="3383280"/>
            <a:ext cx="356616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Cap funds: lose up to 2.39% on a bad day (1-in-20)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 funds: effectively zero daily VaR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avg VaR: -0.82% daily ≈ -13% annualised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solidFill>
            <a:srgbClr val="ECEFF1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Fintech | Mutual Fund Analytics Capstone | June 2026  •  8/12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— Page 1 &amp; 2: Industry &amp; Performance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65836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| 4 interactive pages with slicers and drill-through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27432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024128"/>
            <a:ext cx="4160520" cy="3474720"/>
          </a:xfrm>
          <a:prstGeom prst="roundRect">
            <a:avLst>
              <a:gd name="adj" fmla="val 2105"/>
            </a:avLst>
          </a:prstGeom>
          <a:solidFill>
            <a:srgbClr val="E8F0FE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0972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 — Industry Overview</a:t>
            </a:r>
            <a:endParaRPr lang="en-US" sz="1000" dirty="0"/>
          </a:p>
        </p:txBody>
      </p:sp>
      <p:pic>
        <p:nvPicPr>
          <p:cNvPr id="7" name="Image 0" descr="Industry Overview Dashboar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89888"/>
            <a:ext cx="3840480" cy="28346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663440" y="1024128"/>
            <a:ext cx="4160520" cy="3474720"/>
          </a:xfrm>
          <a:prstGeom prst="roundRect">
            <a:avLst>
              <a:gd name="adj" fmla="val 2105"/>
            </a:avLst>
          </a:prstGeom>
          <a:solidFill>
            <a:srgbClr val="E8F5E9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4800600" y="10972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2 — Fund Performance</a:t>
            </a:r>
            <a:endParaRPr lang="en-US" sz="1000" dirty="0"/>
          </a:p>
        </p:txBody>
      </p:sp>
      <p:pic>
        <p:nvPicPr>
          <p:cNvPr id="10" name="Image 1" descr="Fund Performance Dashboar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1389888"/>
            <a:ext cx="3840480" cy="28346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solidFill>
            <a:srgbClr val="ECEFF1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Fintech | Mutual Fund Analytics Capstone | June 2026  •  9/12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— Page 3 &amp; 4: Investor &amp; SIP Trends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65836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Demographics, geography, SIP inflow vs market movement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27432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024128"/>
            <a:ext cx="4160520" cy="3474720"/>
          </a:xfrm>
          <a:prstGeom prst="roundRect">
            <a:avLst>
              <a:gd name="adj" fmla="val 2105"/>
            </a:avLst>
          </a:prstGeom>
          <a:solidFill>
            <a:srgbClr val="FFF3E0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0972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3 — Investor Analytics</a:t>
            </a:r>
            <a:endParaRPr lang="en-US" sz="1000" dirty="0"/>
          </a:p>
        </p:txBody>
      </p:sp>
      <p:pic>
        <p:nvPicPr>
          <p:cNvPr id="7" name="Image 0" descr="Investor Analytics Dashboar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89888"/>
            <a:ext cx="3840480" cy="28346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663440" y="1024128"/>
            <a:ext cx="4160520" cy="3474720"/>
          </a:xfrm>
          <a:prstGeom prst="roundRect">
            <a:avLst>
              <a:gd name="adj" fmla="val 2105"/>
            </a:avLst>
          </a:prstGeom>
          <a:solidFill>
            <a:srgbClr val="F3E5F5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4800600" y="10972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4 — SIP &amp; Market Trends</a:t>
            </a:r>
            <a:endParaRPr lang="en-US" sz="1000" dirty="0"/>
          </a:p>
        </p:txBody>
      </p:sp>
      <p:pic>
        <p:nvPicPr>
          <p:cNvPr id="10" name="Image 1" descr="SIP and Market Trends Dashboar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1389888"/>
            <a:ext cx="3840480" cy="28346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solidFill>
            <a:srgbClr val="ECEFF1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Fintech | Mutual Fund Analytics Capstone | June 2026  •  10/12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&amp; Recommendations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65836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data tells us — and what to do about it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27432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051560"/>
            <a:ext cx="4206240" cy="1115568"/>
          </a:xfrm>
          <a:prstGeom prst="roundRect">
            <a:avLst>
              <a:gd name="adj" fmla="val 5738"/>
            </a:avLst>
          </a:prstGeom>
          <a:solidFill>
            <a:srgbClr val="FAFAFA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51560"/>
            <a:ext cx="1371600" cy="347472"/>
          </a:xfrm>
          <a:prstGeom prst="roundRect">
            <a:avLst>
              <a:gd name="adj" fmla="val 13158"/>
            </a:avLst>
          </a:prstGeom>
          <a:solidFill>
            <a:srgbClr val="0D47A1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09728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Best Fund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29768" y="1435608"/>
            <a:ext cx="39776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Mirae Asset Large Cap — Regular scores 85.9/100 on the composite scorecard (30% CAGR + 25% Sharpe + 20% Alpha + 15% Expense + 10% Drawdown)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" y="2313432"/>
            <a:ext cx="4206240" cy="1115568"/>
          </a:xfrm>
          <a:prstGeom prst="roundRect">
            <a:avLst>
              <a:gd name="adj" fmla="val 5738"/>
            </a:avLst>
          </a:prstGeom>
          <a:solidFill>
            <a:srgbClr val="FAFAFA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2313432"/>
            <a:ext cx="1371600" cy="347472"/>
          </a:xfrm>
          <a:prstGeom prst="roundRect">
            <a:avLst>
              <a:gd name="adj" fmla="val 13158"/>
            </a:avLst>
          </a:prstGeom>
          <a:solidFill>
            <a:srgbClr val="00796B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2359152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Alpha Leaders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29768" y="2697480"/>
            <a:ext cx="39776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SBI Small Cap generates +30.3% annualised Alpha vs Nifty 100 — fund manager significantly outperforms market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0040" y="3575304"/>
            <a:ext cx="4206240" cy="1115568"/>
          </a:xfrm>
          <a:prstGeom prst="roundRect">
            <a:avLst>
              <a:gd name="adj" fmla="val 5738"/>
            </a:avLst>
          </a:prstGeom>
          <a:solidFill>
            <a:srgbClr val="FAFAFA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3575304"/>
            <a:ext cx="1371600" cy="347472"/>
          </a:xfrm>
          <a:prstGeom prst="roundRect">
            <a:avLst>
              <a:gd name="adj" fmla="val 13158"/>
            </a:avLst>
          </a:prstGeom>
          <a:solidFill>
            <a:srgbClr val="2E7D32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" y="3621024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SIP Growth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29768" y="3959352"/>
            <a:ext cx="39776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SIP inflows grew 169% in under 4 years — India's retail investment culture is deepening rapidly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709160" y="1051560"/>
            <a:ext cx="4206240" cy="1115568"/>
          </a:xfrm>
          <a:prstGeom prst="roundRect">
            <a:avLst>
              <a:gd name="adj" fmla="val 5738"/>
            </a:avLst>
          </a:prstGeom>
          <a:solidFill>
            <a:srgbClr val="FAFAFA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09160" y="1051560"/>
            <a:ext cx="1371600" cy="347472"/>
          </a:xfrm>
          <a:prstGeom prst="roundRect">
            <a:avLst>
              <a:gd name="adj" fmla="val 13158"/>
            </a:avLst>
          </a:prstGeom>
          <a:solidFill>
            <a:srgbClr val="E65100"/>
          </a:solidFill>
          <a:ln/>
        </p:spPr>
      </p:sp>
      <p:sp>
        <p:nvSpPr>
          <p:cNvPr id="19" name="Text 17"/>
          <p:cNvSpPr/>
          <p:nvPr/>
        </p:nvSpPr>
        <p:spPr>
          <a:xfrm>
            <a:off x="4754880" y="109728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Risk Reality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818888" y="1435608"/>
            <a:ext cx="39776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Cap funds lose up to 2.39% on a bad day. Liquid funds: effectively zero daily VaR. Category selection matters more than fund selection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709160" y="2313432"/>
            <a:ext cx="4206240" cy="1115568"/>
          </a:xfrm>
          <a:prstGeom prst="roundRect">
            <a:avLst>
              <a:gd name="adj" fmla="val 5738"/>
            </a:avLst>
          </a:prstGeom>
          <a:solidFill>
            <a:srgbClr val="FAFAFA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09160" y="2313432"/>
            <a:ext cx="1371600" cy="347472"/>
          </a:xfrm>
          <a:prstGeom prst="roundRect">
            <a:avLst>
              <a:gd name="adj" fmla="val 13158"/>
            </a:avLst>
          </a:prstGeom>
          <a:solidFill>
            <a:srgbClr val="1565C0"/>
          </a:solidFill>
          <a:ln/>
        </p:spPr>
      </p:sp>
      <p:sp>
        <p:nvSpPr>
          <p:cNvPr id="23" name="Text 21"/>
          <p:cNvSpPr/>
          <p:nvPr/>
        </p:nvSpPr>
        <p:spPr>
          <a:xfrm>
            <a:off x="4754880" y="2359152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Newer Investors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818888" y="2697480"/>
            <a:ext cx="39776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 2025 investors put in Rs.13,505 avg SIP vs Rs.10,997 for 2024 cohort — 23% higher ticket size from newer entrants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709160" y="3575304"/>
            <a:ext cx="4206240" cy="1115568"/>
          </a:xfrm>
          <a:prstGeom prst="roundRect">
            <a:avLst>
              <a:gd name="adj" fmla="val 5738"/>
            </a:avLst>
          </a:prstGeom>
          <a:solidFill>
            <a:srgbClr val="FAFAFA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09160" y="3575304"/>
            <a:ext cx="1371600" cy="347472"/>
          </a:xfrm>
          <a:prstGeom prst="roundRect">
            <a:avLst>
              <a:gd name="adj" fmla="val 13158"/>
            </a:avLst>
          </a:prstGeom>
          <a:solidFill>
            <a:srgbClr val="C62828"/>
          </a:solidFill>
          <a:ln/>
        </p:spPr>
      </p:sp>
      <p:sp>
        <p:nvSpPr>
          <p:cNvPr id="27" name="Text 25"/>
          <p:cNvSpPr/>
          <p:nvPr/>
        </p:nvSpPr>
        <p:spPr>
          <a:xfrm>
            <a:off x="4754880" y="3621024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Recommendation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818888" y="3959352"/>
            <a:ext cx="39776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ETL as daily cron at 8 PM IST, expand from 40 to 200+ schemes, migrate to PostgreSQL for production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solidFill>
            <a:srgbClr val="ECEFF1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Fintech | Mutual Fund Analytics Capstone | June 2026  •  11/12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47A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457200" y="1600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Fintech | Mutual Fund Analytics Platform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2286000"/>
            <a:ext cx="1508760" cy="960120"/>
          </a:xfrm>
          <a:prstGeom prst="roundRect">
            <a:avLst>
              <a:gd name="adj" fmla="val 7619"/>
            </a:avLst>
          </a:prstGeom>
          <a:solidFill>
            <a:srgbClr val="00796B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2377440"/>
            <a:ext cx="1417320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02920" y="2842870"/>
            <a:ext cx="1417320" cy="364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 Ingested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121408" y="2286000"/>
            <a:ext cx="1508760" cy="960120"/>
          </a:xfrm>
          <a:prstGeom prst="roundRect">
            <a:avLst>
              <a:gd name="adj" fmla="val 7619"/>
            </a:avLst>
          </a:prstGeom>
          <a:solidFill>
            <a:srgbClr val="00796B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167128" y="2377440"/>
            <a:ext cx="1417320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64K+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2167128" y="2842870"/>
            <a:ext cx="1417320" cy="364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 Data Points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785616" y="2286000"/>
            <a:ext cx="1508760" cy="960120"/>
          </a:xfrm>
          <a:prstGeom prst="roundRect">
            <a:avLst>
              <a:gd name="adj" fmla="val 7619"/>
            </a:avLst>
          </a:prstGeom>
          <a:solidFill>
            <a:srgbClr val="00796B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831336" y="2377440"/>
            <a:ext cx="1417320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831336" y="2842870"/>
            <a:ext cx="1417320" cy="364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Metrics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449824" y="2286000"/>
            <a:ext cx="1508760" cy="960120"/>
          </a:xfrm>
          <a:prstGeom prst="roundRect">
            <a:avLst>
              <a:gd name="adj" fmla="val 7619"/>
            </a:avLst>
          </a:prstGeom>
          <a:solidFill>
            <a:srgbClr val="00796B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495544" y="2377440"/>
            <a:ext cx="1417320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495544" y="2842870"/>
            <a:ext cx="1417320" cy="364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Pages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114032" y="2286000"/>
            <a:ext cx="1508760" cy="960120"/>
          </a:xfrm>
          <a:prstGeom prst="roundRect">
            <a:avLst>
              <a:gd name="adj" fmla="val 7619"/>
            </a:avLst>
          </a:prstGeom>
          <a:solidFill>
            <a:srgbClr val="00796B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159752" y="2377440"/>
            <a:ext cx="1417320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7159752" y="2842870"/>
            <a:ext cx="1417320" cy="364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to Build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7200" y="4206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 available on request  |  Data: AMFI India, NSE, mfapi.in  |  Educational purposes only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 Divyanshu Rai |  Bluestock Fintech Internship  |  June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1354</Words>
  <Application>Microsoft Office PowerPoint</Application>
  <PresentationFormat>On-screen Show (16:9)</PresentationFormat>
  <Paragraphs>199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Bluestock MF Analytics Capstone</dc:title>
  <dc:subject>PptxGenJS Presentation</dc:subject>
  <dc:creator>Divyanshu</dc:creator>
  <cp:lastModifiedBy>Divyanshu Rai</cp:lastModifiedBy>
  <cp:revision>2</cp:revision>
  <dcterms:created xsi:type="dcterms:W3CDTF">2026-06-12T06:31:10Z</dcterms:created>
  <dcterms:modified xsi:type="dcterms:W3CDTF">2026-06-14T08:44:50Z</dcterms:modified>
</cp:coreProperties>
</file>